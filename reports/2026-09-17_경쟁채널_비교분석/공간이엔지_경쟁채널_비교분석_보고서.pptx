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2C"/>
                </a:solidFill>
                <a:latin typeface="Apple SD Gothic Neo"/>
              </a:defRPr>
            </a:pPr>
            <a:r>
              <a:rPr sz="1100" b="0" i="0" u="none" strike="noStrike">
                <a:solidFill>
                  <a:srgbClr val="1F2A2C"/>
                </a:solidFill>
                <a:latin typeface="Apple SD Gothic Neo"/>
              </a:rPr>
              <a:t>구독자 수(명)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구독자</c:v>
                </c:pt>
              </c:strCache>
            </c:strRef>
          </c:tx>
          <c:spPr>
            <a:solidFill>
              <a:srgbClr val="3E6F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C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6F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8E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6AD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CD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5541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무아공간</c:v>
                  </c:pt>
                  <c:pt idx="1">
                    <c:v>인테리언니</c:v>
                  </c:pt>
                  <c:pt idx="2">
                    <c:v>홈파베르</c:v>
                  </c:pt>
                  <c:pt idx="3">
                    <c:v>디자인쉐어</c:v>
                  </c:pt>
                  <c:pt idx="4">
                    <c:v>공간이엔지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300000</c:v>
                </c:pt>
                <c:pt idx="1">
                  <c:v>296000</c:v>
                </c:pt>
                <c:pt idx="2">
                  <c:v>68100</c:v>
                </c:pt>
                <c:pt idx="3">
                  <c:v>38400</c:v>
                </c:pt>
                <c:pt idx="4">
                  <c:v>216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2C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A2C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775"/>
                </a:solidFill>
                <a:latin typeface="Apple SD Gothic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2C"/>
                </a:solidFill>
                <a:latin typeface="Apple SD Gothic Neo"/>
              </a:defRPr>
            </a:pPr>
            <a:r>
              <a:rPr sz="1100" b="0" i="0" u="none" strike="noStrike">
                <a:solidFill>
                  <a:srgbClr val="1F2A2C"/>
                </a:solidFill>
                <a:latin typeface="Apple SD Gothic Neo"/>
              </a:rPr>
              <a:t>영상당 평균 조회수(누적 조회 ÷ 영상 수)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영상당 조회</c:v>
                </c:pt>
              </c:strCache>
            </c:strRef>
          </c:tx>
          <c:spPr>
            <a:solidFill>
              <a:srgbClr val="3E6F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C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6F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8E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6AD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CD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5541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무아공간</c:v>
                  </c:pt>
                  <c:pt idx="1">
                    <c:v>인테리언니</c:v>
                  </c:pt>
                  <c:pt idx="2">
                    <c:v>홈파베르</c:v>
                  </c:pt>
                  <c:pt idx="3">
                    <c:v>디자인쉐어</c:v>
                  </c:pt>
                  <c:pt idx="4">
                    <c:v>공간이엔지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55677</c:v>
                </c:pt>
                <c:pt idx="1">
                  <c:v>343477</c:v>
                </c:pt>
                <c:pt idx="2">
                  <c:v>27362</c:v>
                </c:pt>
                <c:pt idx="3">
                  <c:v>11250</c:v>
                </c:pt>
                <c:pt idx="4">
                  <c:v>1105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2C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A2C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3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775"/>
                </a:solidFill>
                <a:latin typeface="Apple SD Gothic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2C"/>
                </a:solidFill>
                <a:latin typeface="Apple SD Gothic Neo"/>
              </a:defRPr>
            </a:pPr>
            <a:r>
              <a:rPr sz="1100" b="0" i="0" u="none" strike="noStrike">
                <a:solidFill>
                  <a:srgbClr val="1F2A2C"/>
                </a:solidFill>
                <a:latin typeface="Apple SD Gothic Neo"/>
              </a:rPr>
              <a:t>롱폼 중간 길이(분)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중간 길이</c:v>
                </c:pt>
              </c:strCache>
            </c:strRef>
          </c:tx>
          <c:spPr>
            <a:solidFill>
              <a:srgbClr val="3E6F8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C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6F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8E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6AD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CD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5541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무아공간</c:v>
                  </c:pt>
                  <c:pt idx="1">
                    <c:v>인테리언니</c:v>
                  </c:pt>
                  <c:pt idx="2">
                    <c:v>홈파베르</c:v>
                  </c:pt>
                  <c:pt idx="3">
                    <c:v>디자인쉐어</c:v>
                  </c:pt>
                  <c:pt idx="4">
                    <c:v>공간이엔지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15.8</c:v>
                </c:pt>
                <c:pt idx="1">
                  <c:v>22.2</c:v>
                </c:pt>
                <c:pt idx="2">
                  <c:v>10.7</c:v>
                </c:pt>
                <c:pt idx="3">
                  <c:v>9.8</c:v>
                </c:pt>
                <c:pt idx="4">
                  <c:v>1.6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A2C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A2C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0"/>
        <c:axPos val="l"/>
        <c:majorGridlines>
          <c:spPr>
            <a:ln w="6350" cap="flat">
              <a:solidFill>
                <a:srgbClr val="E6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775"/>
                </a:solidFill>
                <a:latin typeface="Apple SD Gothic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2C"/>
                </a:solidFill>
                <a:latin typeface="Apple SD Gothic Neo"/>
              </a:defRPr>
            </a:pPr>
            <a:r>
              <a:rPr sz="1100" b="0" i="0" u="none" strike="noStrike">
                <a:solidFill>
                  <a:srgbClr val="1F2A2C"/>
                </a:solidFill>
                <a:latin typeface="Apple SD Gothic Neo"/>
              </a:rPr>
              <a:t>최근 365일 업로드(편)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연간 업로드</c:v>
                </c:pt>
              </c:strCache>
            </c:strRef>
          </c:tx>
          <c:spPr>
            <a:solidFill>
              <a:srgbClr val="3E6F8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C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6F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8E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6AD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3CD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5541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무아공간</c:v>
                  </c:pt>
                  <c:pt idx="1">
                    <c:v>인테리언니</c:v>
                  </c:pt>
                  <c:pt idx="2">
                    <c:v>홈파베르</c:v>
                  </c:pt>
                  <c:pt idx="3">
                    <c:v>디자인쉐어</c:v>
                  </c:pt>
                  <c:pt idx="4">
                    <c:v>공간이엔지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</c:v>
                </c:pt>
                <c:pt idx="1">
                  <c:v>61</c:v>
                </c:pt>
                <c:pt idx="2">
                  <c:v>93</c:v>
                </c:pt>
                <c:pt idx="3">
                  <c:v>92</c:v>
                </c:pt>
                <c:pt idx="4">
                  <c:v>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F2A2C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A2C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6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775"/>
                </a:solidFill>
                <a:latin typeface="Apple SD Gothic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A2C"/>
                </a:solidFill>
                <a:latin typeface="Apple SD Gothic Neo"/>
              </a:defRPr>
            </a:pPr>
            <a:r>
              <a:rPr sz="1100" b="0" i="0" u="none" strike="noStrike">
                <a:solidFill>
                  <a:srgbClr val="1F2A2C"/>
                </a:solidFill>
                <a:latin typeface="Apple SD Gothic Neo"/>
              </a:rPr>
              <a:t>주제 비중(%)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시공사례/현장</c:v>
                </c:pt>
              </c:strCache>
            </c:strRef>
          </c:tx>
          <c:spPr>
            <a:solidFill>
              <a:srgbClr val="3E6F8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pple SD Gothic Ne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무아공간</c:v>
                  </c:pt>
                  <c:pt idx="1">
                    <c:v>인테리언니</c:v>
                  </c:pt>
                  <c:pt idx="2">
                    <c:v>홈파베르</c:v>
                  </c:pt>
                  <c:pt idx="3">
                    <c:v>디자인쉐어</c:v>
                  </c:pt>
                  <c:pt idx="4">
                    <c:v>공간이엔지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</c:v>
                </c:pt>
                <c:pt idx="1">
                  <c:v>9</c:v>
                </c:pt>
                <c:pt idx="2">
                  <c:v>27</c:v>
                </c:pt>
                <c:pt idx="3">
                  <c:v>75</c:v>
                </c:pt>
                <c:pt idx="4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정보/노하우</c:v>
                </c:pt>
              </c:strCache>
            </c:strRef>
          </c:tx>
          <c:spPr>
            <a:solidFill>
              <a:srgbClr val="5E8E9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pple SD Gothic Ne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무아공간</c:v>
                  </c:pt>
                  <c:pt idx="1">
                    <c:v>인테리언니</c:v>
                  </c:pt>
                  <c:pt idx="2">
                    <c:v>홈파베르</c:v>
                  </c:pt>
                  <c:pt idx="3">
                    <c:v>디자인쉐어</c:v>
                  </c:pt>
                  <c:pt idx="4">
                    <c:v>공간이엔지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</c:v>
                </c:pt>
                <c:pt idx="1">
                  <c:v>38</c:v>
                </c:pt>
                <c:pt idx="2">
                  <c:v>39</c:v>
                </c:pt>
                <c:pt idx="3">
                  <c:v>10</c:v>
                </c:pt>
                <c:pt idx="4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제품/자재</c:v>
                </c:pt>
              </c:strCache>
            </c:strRef>
          </c:tx>
          <c:spPr>
            <a:solidFill>
              <a:srgbClr val="C98A5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pple SD Gothic Ne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무아공간</c:v>
                  </c:pt>
                  <c:pt idx="1">
                    <c:v>인테리언니</c:v>
                  </c:pt>
                  <c:pt idx="2">
                    <c:v>홈파베르</c:v>
                  </c:pt>
                  <c:pt idx="3">
                    <c:v>디자인쉐어</c:v>
                  </c:pt>
                  <c:pt idx="4">
                    <c:v>공간이엔지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</c:v>
                </c:pt>
                <c:pt idx="1">
                  <c:v>28</c:v>
                </c:pt>
                <c:pt idx="2">
                  <c:v>21</c:v>
                </c:pt>
                <c:pt idx="3">
                  <c:v>7</c:v>
                </c:pt>
                <c:pt idx="4">
                  <c:v>41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고객인터뷰/후기</c:v>
                </c:pt>
              </c:strCache>
            </c:strRef>
          </c:tx>
          <c:spPr>
            <a:solidFill>
              <a:srgbClr val="86ADB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pple SD Gothic Ne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무아공간</c:v>
                  </c:pt>
                  <c:pt idx="1">
                    <c:v>인테리언니</c:v>
                  </c:pt>
                  <c:pt idx="2">
                    <c:v>홈파베르</c:v>
                  </c:pt>
                  <c:pt idx="3">
                    <c:v>디자인쉐어</c:v>
                  </c:pt>
                  <c:pt idx="4">
                    <c:v>공간이엔지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6</c:v>
                </c:pt>
                <c:pt idx="1">
                  <c:v>9</c:v>
                </c:pt>
                <c:pt idx="2">
                  <c:v>10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인물/토크/브이로그</c:v>
                </c:pt>
              </c:strCache>
            </c:strRef>
          </c:tx>
          <c:spPr>
            <a:solidFill>
              <a:srgbClr val="B3CDD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pple SD Gothic Ne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무아공간</c:v>
                  </c:pt>
                  <c:pt idx="1">
                    <c:v>인테리언니</c:v>
                  </c:pt>
                  <c:pt idx="2">
                    <c:v>홈파베르</c:v>
                  </c:pt>
                  <c:pt idx="3">
                    <c:v>디자인쉐어</c:v>
                  </c:pt>
                  <c:pt idx="4">
                    <c:v>공간이엔지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9</c:v>
                </c:pt>
                <c:pt idx="1">
                  <c:v>15</c:v>
                </c:pt>
                <c:pt idx="2">
                  <c:v>4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pple SD Gothic Ne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A2C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9E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775"/>
                </a:solidFill>
                <a:latin typeface="Apple SD Gothic Ne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Apple SD Gothic Neo"/>
              <a:cs typeface="Apple SD Gothic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2A2C"/>
                </a:solidFill>
                <a:latin typeface="Apple SD Gothic Neo"/>
              </a:defRPr>
            </a:pPr>
            <a:r>
              <a:rPr sz="1000" b="0" i="0" u="none" strike="noStrike">
                <a:solidFill>
                  <a:srgbClr val="1F2A2C"/>
                </a:solidFill>
                <a:latin typeface="Apple SD Gothic Neo"/>
              </a:rPr>
              <a:t>항목별 프로파일</a:t>
            </a:r>
          </a:p>
        </c:rich>
      </c:tx>
      <c:layout/>
      <c:overlay val="0"/>
    </c:title>
    <c:autoTitleDeleted val="0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무아공간</c:v>
                </c:pt>
              </c:strCache>
            </c:strRef>
          </c:tx>
          <c:spPr>
            <a:solidFill>
              <a:srgbClr val="3E6F80"/>
            </a:solidFill>
            <a:ln w="19050" cap="flat">
              <a:solidFill>
                <a:srgbClr val="3E6F80"/>
              </a:solidFill>
              <a:prstDash val="solid"/>
              <a:round/>
            </a:ln>
            <a:effectLst/>
          </c:spPr>
          <c:invertIfNegative val="0"/>
          <c:marker>
            <c:symbol val="none"/>
            <c:size val="6"/>
            <c:spPr>
              <a:solidFill>
                <a:srgbClr val="3E6F80"/>
              </a:solidFill>
              <a:ln w="9525" cap="flat">
                <a:solidFill>
                  <a:srgbClr val="3E6F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1.채널 규모</c:v>
                  </c:pt>
                  <c:pt idx="1">
                    <c:v>2.콘텐츠 포맷</c:v>
                  </c:pt>
                  <c:pt idx="2">
                    <c:v>3.업로드 리듬</c:v>
                  </c:pt>
                  <c:pt idx="3">
                    <c:v>4.콘텐츠 주제</c:v>
                  </c:pt>
                  <c:pt idx="4">
                    <c:v>5.영상 기법</c:v>
                  </c:pt>
                  <c:pt idx="5">
                    <c:v>6.제목</c:v>
                  </c:pt>
                  <c:pt idx="6">
                    <c:v>7.브랜딩</c:v>
                  </c:pt>
                  <c:pt idx="7">
                    <c:v>8.리드 전환 </c:v>
                  </c:pt>
                  <c:pt idx="8">
                    <c:v>9.회사 구성</c:v>
                  </c:pt>
                  <c:pt idx="9">
                    <c:v>10.운영 방식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인테리언니</c:v>
                </c:pt>
              </c:strCache>
            </c:strRef>
          </c:tx>
          <c:spPr>
            <a:solidFill>
              <a:srgbClr val="5E8E9C"/>
            </a:solidFill>
            <a:ln w="19050" cap="flat">
              <a:solidFill>
                <a:srgbClr val="5E8E9C"/>
              </a:solidFill>
              <a:prstDash val="solid"/>
              <a:round/>
            </a:ln>
            <a:effectLst/>
          </c:spPr>
          <c:invertIfNegative val="0"/>
          <c:marker>
            <c:symbol val="none"/>
            <c:size val="6"/>
            <c:spPr>
              <a:solidFill>
                <a:srgbClr val="5E8E9C"/>
              </a:solidFill>
              <a:ln w="9525" cap="flat">
                <a:solidFill>
                  <a:srgbClr val="5E8E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1.채널 규모</c:v>
                  </c:pt>
                  <c:pt idx="1">
                    <c:v>2.콘텐츠 포맷</c:v>
                  </c:pt>
                  <c:pt idx="2">
                    <c:v>3.업로드 리듬</c:v>
                  </c:pt>
                  <c:pt idx="3">
                    <c:v>4.콘텐츠 주제</c:v>
                  </c:pt>
                  <c:pt idx="4">
                    <c:v>5.영상 기법</c:v>
                  </c:pt>
                  <c:pt idx="5">
                    <c:v>6.제목</c:v>
                  </c:pt>
                  <c:pt idx="6">
                    <c:v>7.브랜딩</c:v>
                  </c:pt>
                  <c:pt idx="7">
                    <c:v>8.리드 전환 </c:v>
                  </c:pt>
                  <c:pt idx="8">
                    <c:v>9.회사 구성</c:v>
                  </c:pt>
                  <c:pt idx="9">
                    <c:v>10.운영 방식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홈파베르</c:v>
                </c:pt>
              </c:strCache>
            </c:strRef>
          </c:tx>
          <c:spPr>
            <a:solidFill>
              <a:srgbClr val="86ADB7"/>
            </a:solidFill>
            <a:ln w="19050" cap="flat">
              <a:solidFill>
                <a:srgbClr val="86ADB7"/>
              </a:solidFill>
              <a:prstDash val="solid"/>
              <a:round/>
            </a:ln>
            <a:effectLst/>
          </c:spPr>
          <c:invertIfNegative val="0"/>
          <c:marker>
            <c:symbol val="none"/>
            <c:size val="6"/>
            <c:spPr>
              <a:solidFill>
                <a:srgbClr val="86ADB7"/>
              </a:solidFill>
              <a:ln w="9525" cap="flat">
                <a:solidFill>
                  <a:srgbClr val="86AD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1.채널 규모</c:v>
                  </c:pt>
                  <c:pt idx="1">
                    <c:v>2.콘텐츠 포맷</c:v>
                  </c:pt>
                  <c:pt idx="2">
                    <c:v>3.업로드 리듬</c:v>
                  </c:pt>
                  <c:pt idx="3">
                    <c:v>4.콘텐츠 주제</c:v>
                  </c:pt>
                  <c:pt idx="4">
                    <c:v>5.영상 기법</c:v>
                  </c:pt>
                  <c:pt idx="5">
                    <c:v>6.제목</c:v>
                  </c:pt>
                  <c:pt idx="6">
                    <c:v>7.브랜딩</c:v>
                  </c:pt>
                  <c:pt idx="7">
                    <c:v>8.리드 전환 </c:v>
                  </c:pt>
                  <c:pt idx="8">
                    <c:v>9.회사 구성</c:v>
                  </c:pt>
                  <c:pt idx="9">
                    <c:v>10.운영 방식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5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디자인쉐어</c:v>
                </c:pt>
              </c:strCache>
            </c:strRef>
          </c:tx>
          <c:spPr>
            <a:solidFill>
              <a:srgbClr val="B3CDD3"/>
            </a:solidFill>
            <a:ln w="19050" cap="flat">
              <a:solidFill>
                <a:srgbClr val="B3CDD3"/>
              </a:solidFill>
              <a:prstDash val="solid"/>
              <a:round/>
            </a:ln>
            <a:effectLst/>
          </c:spPr>
          <c:invertIfNegative val="0"/>
          <c:marker>
            <c:symbol val="none"/>
            <c:size val="6"/>
            <c:spPr>
              <a:solidFill>
                <a:srgbClr val="B3CDD3"/>
              </a:solidFill>
              <a:ln w="9525" cap="flat">
                <a:solidFill>
                  <a:srgbClr val="B3CDD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1.채널 규모</c:v>
                  </c:pt>
                  <c:pt idx="1">
                    <c:v>2.콘텐츠 포맷</c:v>
                  </c:pt>
                  <c:pt idx="2">
                    <c:v>3.업로드 리듬</c:v>
                  </c:pt>
                  <c:pt idx="3">
                    <c:v>4.콘텐츠 주제</c:v>
                  </c:pt>
                  <c:pt idx="4">
                    <c:v>5.영상 기법</c:v>
                  </c:pt>
                  <c:pt idx="5">
                    <c:v>6.제목</c:v>
                  </c:pt>
                  <c:pt idx="6">
                    <c:v>7.브랜딩</c:v>
                  </c:pt>
                  <c:pt idx="7">
                    <c:v>8.리드 전환 </c:v>
                  </c:pt>
                  <c:pt idx="8">
                    <c:v>9.회사 구성</c:v>
                  </c:pt>
                  <c:pt idx="9">
                    <c:v>10.운영 방식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공간이엔지</c:v>
                </c:pt>
              </c:strCache>
            </c:strRef>
          </c:tx>
          <c:spPr>
            <a:solidFill>
              <a:srgbClr val="B5541E"/>
            </a:solidFill>
            <a:ln w="19050" cap="flat">
              <a:solidFill>
                <a:srgbClr val="B5541E"/>
              </a:solidFill>
              <a:prstDash val="solid"/>
              <a:round/>
            </a:ln>
            <a:effectLst/>
          </c:spPr>
          <c:invertIfNegative val="0"/>
          <c:marker>
            <c:symbol val="none"/>
            <c:size val="6"/>
            <c:spPr>
              <a:solidFill>
                <a:srgbClr val="B5541E"/>
              </a:solidFill>
              <a:ln w="9525" cap="flat">
                <a:solidFill>
                  <a:srgbClr val="B554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1.채널 규모</c:v>
                  </c:pt>
                  <c:pt idx="1">
                    <c:v>2.콘텐츠 포맷</c:v>
                  </c:pt>
                  <c:pt idx="2">
                    <c:v>3.업로드 리듬</c:v>
                  </c:pt>
                  <c:pt idx="3">
                    <c:v>4.콘텐츠 주제</c:v>
                  </c:pt>
                  <c:pt idx="4">
                    <c:v>5.영상 기법</c:v>
                  </c:pt>
                  <c:pt idx="5">
                    <c:v>6.제목</c:v>
                  </c:pt>
                  <c:pt idx="6">
                    <c:v>7.브랜딩</c:v>
                  </c:pt>
                  <c:pt idx="7">
                    <c:v>8.리드 전환 </c:v>
                  </c:pt>
                  <c:pt idx="8">
                    <c:v>9.회사 구성</c:v>
                  </c:pt>
                  <c:pt idx="9">
                    <c:v>10.운영 방식</c:v>
                  </c:pt>
                </c:lvl>
              </c:multiLvlStrCache>
            </c:multiLvl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3</c:v>
                </c:pt>
                <c:pt idx="8">
                  <c:v>2</c:v>
                </c:pt>
                <c:pt idx="9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F2A2C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6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Apple SD Gothic Neo"/>
              <a:cs typeface="Apple SD Gothic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F2A2C"/>
                </a:solidFill>
                <a:latin typeface="Apple SD Gothic Neo"/>
              </a:defRPr>
            </a:pPr>
            <a:r>
              <a:rPr sz="1000" b="0" i="0" u="none" strike="noStrike">
                <a:solidFill>
                  <a:srgbClr val="1F2A2C"/>
                </a:solidFill>
                <a:latin typeface="Apple SD Gothic Neo"/>
              </a:rPr>
              <a:t>항목별 갭(점)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갭</c:v>
                </c:pt>
              </c:strCache>
            </c:strRef>
          </c:tx>
          <c:spPr>
            <a:solidFill>
              <a:srgbClr val="B554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pple SD Gothic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1. 채널 규모·도달력</c:v>
                  </c:pt>
                  <c:pt idx="1">
                    <c:v>2. 콘텐츠 포맷·영상 길이</c:v>
                  </c:pt>
                  <c:pt idx="2">
                    <c:v>5. 영상 기법·제작 방식</c:v>
                  </c:pt>
                  <c:pt idx="3">
                    <c:v>4. 콘텐츠 주제 믹스</c:v>
                  </c:pt>
                  <c:pt idx="4">
                    <c:v>6. 제목·썸네일 기법</c:v>
                  </c:pt>
                  <c:pt idx="5">
                    <c:v>7. 브랜딩·페르소나</c:v>
                  </c:pt>
                  <c:pt idx="6">
                    <c:v>9. 회사 구성·조직</c:v>
                  </c:pt>
                  <c:pt idx="7">
                    <c:v>3. 업로드 리듬·지속성</c:v>
                  </c:pt>
                  <c:pt idx="8">
                    <c:v>8. 리드 전환 시스템</c:v>
                  </c:pt>
                  <c:pt idx="9">
                    <c:v>10. 운영 방식·멀티채널 생태계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3.25</c:v>
                </c:pt>
                <c:pt idx="1">
                  <c:v>2.5</c:v>
                </c:pt>
                <c:pt idx="2">
                  <c:v>2.5</c:v>
                </c:pt>
                <c:pt idx="3">
                  <c:v>2.25</c:v>
                </c:pt>
                <c:pt idx="4">
                  <c:v>2.25</c:v>
                </c:pt>
                <c:pt idx="5">
                  <c:v>2.25</c:v>
                </c:pt>
                <c:pt idx="6">
                  <c:v>2.25</c:v>
                </c:pt>
                <c:pt idx="7">
                  <c:v>1.5</c:v>
                </c:pt>
                <c:pt idx="8">
                  <c:v>1.25</c:v>
                </c:pt>
                <c:pt idx="9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pple SD Gothic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F2A2C"/>
                </a:solidFill>
                <a:latin typeface="Apple SD Gothic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6AD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COMPETITIVE CHANNEL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× 경쟁 4채널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유튜브 비교분석 보고서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무아공간 · 인테리언니 백예진 · 홈파베르 · 디자인쉐어 vs 공간이엔지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E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10대 항목 비교 · 영상 기법 · 회사 구성·운영 · 공간이엔지 실행 과제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ADB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수집 2026-09-17 · 유튜브 채널·영상 표본 741편 · 공개 회사 정보 기준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· 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비교 대상 5개 채널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구독자·누적 조회수·영상 수는 채널 정보 탭 기준 (2026-09-17)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591056" cy="3246120"/>
          </a:xfrm>
          <a:prstGeom prst="roundRect">
            <a:avLst>
              <a:gd name="adj" fmla="val 4598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pic>
        <p:nvPicPr>
          <p:cNvPr id="7" name="Image 0" descr="/tmp/claude-0/-home-user-chromux/d9720436-ad61-5a24-b236-08f2450efa2e/scratchpad/yt/img/muagonggan_avat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08760"/>
            <a:ext cx="822960" cy="822960"/>
          </a:xfrm>
          <a:prstGeom prst="ellipse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404872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무아공간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69748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@muagonggan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301752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30만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누적 조회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31012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5640만회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3602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수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36027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1,013편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38953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개설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89534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2019-03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4187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운영사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418795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(주)무아공간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139696" y="1325880"/>
            <a:ext cx="1591056" cy="3246120"/>
          </a:xfrm>
          <a:prstGeom prst="roundRect">
            <a:avLst>
              <a:gd name="adj" fmla="val 4598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pic>
        <p:nvPicPr>
          <p:cNvPr id="21" name="Image 1" descr="/tmp/claude-0/-home-user-chromux/d9720436-ad61-5a24-b236-08f2450efa2e/scratchpad/yt/img/intelliunnie_avata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508760"/>
            <a:ext cx="822960" cy="822960"/>
          </a:xfrm>
          <a:prstGeom prst="ellipse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231136" y="2404872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인테리언니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2231136" y="269748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@intelliunnie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2249424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2779776" y="301752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30만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2249424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누적 조회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2779776" y="331012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4843만회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2249424" y="3602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수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2779776" y="36027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141편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2249424" y="38953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개설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2779776" y="389534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2023-03</a:t>
            </a:r>
            <a:endParaRPr lang="en-US" sz="850" dirty="0"/>
          </a:p>
        </p:txBody>
      </p:sp>
      <p:sp>
        <p:nvSpPr>
          <p:cNvPr id="32" name="Text 28"/>
          <p:cNvSpPr txBox="1"/>
          <p:nvPr/>
        </p:nvSpPr>
        <p:spPr>
          <a:xfrm>
            <a:off x="2249424" y="4187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운영사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2779776" y="418795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코나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3822192" y="1325880"/>
            <a:ext cx="1591056" cy="3246120"/>
          </a:xfrm>
          <a:prstGeom prst="roundRect">
            <a:avLst>
              <a:gd name="adj" fmla="val 4598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pic>
        <p:nvPicPr>
          <p:cNvPr id="35" name="Image 2" descr="/tmp/claude-0/-home-user-chromux/d9720436-ad61-5a24-b236-08f2450efa2e/scratchpad/yt/img/homefaber_design_avatar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508760"/>
            <a:ext cx="822960" cy="822960"/>
          </a:xfrm>
          <a:prstGeom prst="ellipse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3913632" y="2404872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홈파베르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3913632" y="269748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@homefaber_design</a:t>
            </a:r>
            <a:endParaRPr lang="en-US" sz="850" dirty="0"/>
          </a:p>
        </p:txBody>
      </p:sp>
      <p:sp>
        <p:nvSpPr>
          <p:cNvPr id="38" name="Text 33"/>
          <p:cNvSpPr txBox="1"/>
          <p:nvPr/>
        </p:nvSpPr>
        <p:spPr>
          <a:xfrm>
            <a:off x="3931920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</a:t>
            </a:r>
            <a:endParaRPr lang="en-US" sz="850" dirty="0"/>
          </a:p>
        </p:txBody>
      </p:sp>
      <p:sp>
        <p:nvSpPr>
          <p:cNvPr id="39" name="Text 34"/>
          <p:cNvSpPr txBox="1"/>
          <p:nvPr/>
        </p:nvSpPr>
        <p:spPr>
          <a:xfrm>
            <a:off x="4462272" y="301752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6.8만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3931920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누적 조회</a:t>
            </a:r>
            <a:endParaRPr lang="en-US" sz="850" dirty="0"/>
          </a:p>
        </p:txBody>
      </p:sp>
      <p:sp>
        <p:nvSpPr>
          <p:cNvPr id="41" name="Text 36"/>
          <p:cNvSpPr txBox="1"/>
          <p:nvPr/>
        </p:nvSpPr>
        <p:spPr>
          <a:xfrm>
            <a:off x="4462272" y="331012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2805만회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3931920" y="3602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수</a:t>
            </a:r>
            <a:endParaRPr lang="en-US" sz="850" dirty="0"/>
          </a:p>
        </p:txBody>
      </p:sp>
      <p:sp>
        <p:nvSpPr>
          <p:cNvPr id="43" name="Text 38"/>
          <p:cNvSpPr txBox="1"/>
          <p:nvPr/>
        </p:nvSpPr>
        <p:spPr>
          <a:xfrm>
            <a:off x="4462272" y="36027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1,025편</a:t>
            </a:r>
            <a:endParaRPr lang="en-US" sz="1100" dirty="0"/>
          </a:p>
        </p:txBody>
      </p:sp>
      <p:sp>
        <p:nvSpPr>
          <p:cNvPr id="44" name="Text 39"/>
          <p:cNvSpPr txBox="1"/>
          <p:nvPr/>
        </p:nvSpPr>
        <p:spPr>
          <a:xfrm>
            <a:off x="3931920" y="38953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개설</a:t>
            </a:r>
            <a:endParaRPr lang="en-US" sz="850" dirty="0"/>
          </a:p>
        </p:txBody>
      </p:sp>
      <p:sp>
        <p:nvSpPr>
          <p:cNvPr id="45" name="Text 40"/>
          <p:cNvSpPr txBox="1"/>
          <p:nvPr/>
        </p:nvSpPr>
        <p:spPr>
          <a:xfrm>
            <a:off x="4462272" y="389534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2022-02</a:t>
            </a:r>
            <a:endParaRPr lang="en-US" sz="850" dirty="0"/>
          </a:p>
        </p:txBody>
      </p:sp>
      <p:sp>
        <p:nvSpPr>
          <p:cNvPr id="46" name="Text 41"/>
          <p:cNvSpPr txBox="1"/>
          <p:nvPr/>
        </p:nvSpPr>
        <p:spPr>
          <a:xfrm>
            <a:off x="3931920" y="4187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운영사</a:t>
            </a:r>
            <a:endParaRPr lang="en-US" sz="850" dirty="0"/>
          </a:p>
        </p:txBody>
      </p:sp>
      <p:sp>
        <p:nvSpPr>
          <p:cNvPr id="47" name="Text 42"/>
          <p:cNvSpPr txBox="1"/>
          <p:nvPr/>
        </p:nvSpPr>
        <p:spPr>
          <a:xfrm>
            <a:off x="4462272" y="418795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홈파베르디자인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5504688" y="1325880"/>
            <a:ext cx="1591056" cy="3246120"/>
          </a:xfrm>
          <a:prstGeom prst="roundRect">
            <a:avLst>
              <a:gd name="adj" fmla="val 4598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pic>
        <p:nvPicPr>
          <p:cNvPr id="49" name="Image 3" descr="/tmp/claude-0/-home-user-chromux/d9720436-ad61-5a24-b236-08f2450efa2e/scratchpad/yt/img/Design_Share_avata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36" y="1508760"/>
            <a:ext cx="822960" cy="822960"/>
          </a:xfrm>
          <a:prstGeom prst="ellipse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5596128" y="2404872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디자인쉐어</a:t>
            </a:r>
            <a:endParaRPr lang="en-US" sz="1400" dirty="0"/>
          </a:p>
        </p:txBody>
      </p:sp>
      <p:sp>
        <p:nvSpPr>
          <p:cNvPr id="51" name="Text 45"/>
          <p:cNvSpPr txBox="1"/>
          <p:nvPr/>
        </p:nvSpPr>
        <p:spPr>
          <a:xfrm>
            <a:off x="5596128" y="269748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@Design_Share</a:t>
            </a:r>
            <a:endParaRPr lang="en-US" sz="850" dirty="0"/>
          </a:p>
        </p:txBody>
      </p:sp>
      <p:sp>
        <p:nvSpPr>
          <p:cNvPr id="52" name="Text 46"/>
          <p:cNvSpPr txBox="1"/>
          <p:nvPr/>
        </p:nvSpPr>
        <p:spPr>
          <a:xfrm>
            <a:off x="5614416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</a:t>
            </a:r>
            <a:endParaRPr lang="en-US" sz="850" dirty="0"/>
          </a:p>
        </p:txBody>
      </p:sp>
      <p:sp>
        <p:nvSpPr>
          <p:cNvPr id="53" name="Text 47"/>
          <p:cNvSpPr txBox="1"/>
          <p:nvPr/>
        </p:nvSpPr>
        <p:spPr>
          <a:xfrm>
            <a:off x="6144768" y="301752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3.8만</a:t>
            </a:r>
            <a:endParaRPr lang="en-US" sz="1100" dirty="0"/>
          </a:p>
        </p:txBody>
      </p:sp>
      <p:sp>
        <p:nvSpPr>
          <p:cNvPr id="54" name="Text 48"/>
          <p:cNvSpPr txBox="1"/>
          <p:nvPr/>
        </p:nvSpPr>
        <p:spPr>
          <a:xfrm>
            <a:off x="5614416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누적 조회</a:t>
            </a:r>
            <a:endParaRPr lang="en-US" sz="850" dirty="0"/>
          </a:p>
        </p:txBody>
      </p:sp>
      <p:sp>
        <p:nvSpPr>
          <p:cNvPr id="55" name="Text 49"/>
          <p:cNvSpPr txBox="1"/>
          <p:nvPr/>
        </p:nvSpPr>
        <p:spPr>
          <a:xfrm>
            <a:off x="6144768" y="331012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858만회</a:t>
            </a:r>
            <a:endParaRPr lang="en-US" sz="1100" dirty="0"/>
          </a:p>
        </p:txBody>
      </p:sp>
      <p:sp>
        <p:nvSpPr>
          <p:cNvPr id="56" name="Text 50"/>
          <p:cNvSpPr txBox="1"/>
          <p:nvPr/>
        </p:nvSpPr>
        <p:spPr>
          <a:xfrm>
            <a:off x="5614416" y="3602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수</a:t>
            </a:r>
            <a:endParaRPr lang="en-US" sz="850" dirty="0"/>
          </a:p>
        </p:txBody>
      </p:sp>
      <p:sp>
        <p:nvSpPr>
          <p:cNvPr id="57" name="Text 51"/>
          <p:cNvSpPr txBox="1"/>
          <p:nvPr/>
        </p:nvSpPr>
        <p:spPr>
          <a:xfrm>
            <a:off x="6144768" y="36027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763편</a:t>
            </a:r>
            <a:endParaRPr lang="en-US" sz="1100" dirty="0"/>
          </a:p>
        </p:txBody>
      </p:sp>
      <p:sp>
        <p:nvSpPr>
          <p:cNvPr id="58" name="Text 52"/>
          <p:cNvSpPr txBox="1"/>
          <p:nvPr/>
        </p:nvSpPr>
        <p:spPr>
          <a:xfrm>
            <a:off x="5614416" y="38953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개설</a:t>
            </a:r>
            <a:endParaRPr lang="en-US" sz="850" dirty="0"/>
          </a:p>
        </p:txBody>
      </p:sp>
      <p:sp>
        <p:nvSpPr>
          <p:cNvPr id="59" name="Text 53"/>
          <p:cNvSpPr txBox="1"/>
          <p:nvPr/>
        </p:nvSpPr>
        <p:spPr>
          <a:xfrm>
            <a:off x="6144768" y="389534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2021-07</a:t>
            </a:r>
            <a:endParaRPr lang="en-US" sz="850" dirty="0"/>
          </a:p>
        </p:txBody>
      </p:sp>
      <p:sp>
        <p:nvSpPr>
          <p:cNvPr id="60" name="Text 54"/>
          <p:cNvSpPr txBox="1"/>
          <p:nvPr/>
        </p:nvSpPr>
        <p:spPr>
          <a:xfrm>
            <a:off x="5614416" y="4187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운영사</a:t>
            </a:r>
            <a:endParaRPr lang="en-US" sz="850" dirty="0"/>
          </a:p>
        </p:txBody>
      </p:sp>
      <p:sp>
        <p:nvSpPr>
          <p:cNvPr id="61" name="Text 55"/>
          <p:cNvSpPr txBox="1"/>
          <p:nvPr/>
        </p:nvSpPr>
        <p:spPr>
          <a:xfrm>
            <a:off x="6144768" y="418795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(주)디자인쉐어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7187184" y="1325880"/>
            <a:ext cx="1591056" cy="3246120"/>
          </a:xfrm>
          <a:prstGeom prst="roundRect">
            <a:avLst>
              <a:gd name="adj" fmla="val 4598"/>
            </a:avLst>
          </a:prstGeom>
          <a:solidFill>
            <a:srgbClr val="F6E3D3"/>
          </a:solidFill>
          <a:ln w="19050">
            <a:solidFill>
              <a:srgbClr val="B5541E"/>
            </a:solidFill>
            <a:prstDash val="solid"/>
          </a:ln>
        </p:spPr>
      </p:sp>
      <p:pic>
        <p:nvPicPr>
          <p:cNvPr id="63" name="Image 4" descr="/tmp/claude-0/-home-user-chromux/d9720436-ad61-5a24-b236-08f2450efa2e/scratchpad/yt/img/gongganeng_avata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1508760"/>
            <a:ext cx="822960" cy="822960"/>
          </a:xfrm>
          <a:prstGeom prst="ellipse">
            <a:avLst/>
          </a:prstGeom>
        </p:spPr>
      </p:pic>
      <p:sp>
        <p:nvSpPr>
          <p:cNvPr id="64" name="Text 57"/>
          <p:cNvSpPr txBox="1"/>
          <p:nvPr/>
        </p:nvSpPr>
        <p:spPr>
          <a:xfrm>
            <a:off x="7278624" y="2404872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</a:t>
            </a:r>
            <a:endParaRPr lang="en-US" sz="1400" dirty="0"/>
          </a:p>
        </p:txBody>
      </p:sp>
      <p:sp>
        <p:nvSpPr>
          <p:cNvPr id="65" name="Text 58"/>
          <p:cNvSpPr txBox="1"/>
          <p:nvPr/>
        </p:nvSpPr>
        <p:spPr>
          <a:xfrm>
            <a:off x="7278624" y="269748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@gongganeng</a:t>
            </a:r>
            <a:endParaRPr lang="en-US" sz="850" dirty="0"/>
          </a:p>
        </p:txBody>
      </p:sp>
      <p:sp>
        <p:nvSpPr>
          <p:cNvPr id="66" name="Text 59"/>
          <p:cNvSpPr txBox="1"/>
          <p:nvPr/>
        </p:nvSpPr>
        <p:spPr>
          <a:xfrm>
            <a:off x="7296912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</a:t>
            </a:r>
            <a:endParaRPr lang="en-US" sz="850" dirty="0"/>
          </a:p>
        </p:txBody>
      </p:sp>
      <p:sp>
        <p:nvSpPr>
          <p:cNvPr id="67" name="Text 60"/>
          <p:cNvSpPr txBox="1"/>
          <p:nvPr/>
        </p:nvSpPr>
        <p:spPr>
          <a:xfrm>
            <a:off x="7827264" y="301752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216</a:t>
            </a:r>
            <a:endParaRPr lang="en-US" sz="1100" dirty="0"/>
          </a:p>
        </p:txBody>
      </p:sp>
      <p:sp>
        <p:nvSpPr>
          <p:cNvPr id="68" name="Text 61"/>
          <p:cNvSpPr txBox="1"/>
          <p:nvPr/>
        </p:nvSpPr>
        <p:spPr>
          <a:xfrm>
            <a:off x="7296912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누적 조회</a:t>
            </a:r>
            <a:endParaRPr lang="en-US" sz="850" dirty="0"/>
          </a:p>
        </p:txBody>
      </p:sp>
      <p:sp>
        <p:nvSpPr>
          <p:cNvPr id="69" name="Text 62"/>
          <p:cNvSpPr txBox="1"/>
          <p:nvPr/>
        </p:nvSpPr>
        <p:spPr>
          <a:xfrm>
            <a:off x="7827264" y="331012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9만회</a:t>
            </a:r>
            <a:endParaRPr lang="en-US" sz="1100" dirty="0"/>
          </a:p>
        </p:txBody>
      </p:sp>
      <p:sp>
        <p:nvSpPr>
          <p:cNvPr id="70" name="Text 63"/>
          <p:cNvSpPr txBox="1"/>
          <p:nvPr/>
        </p:nvSpPr>
        <p:spPr>
          <a:xfrm>
            <a:off x="7296912" y="36027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수</a:t>
            </a:r>
            <a:endParaRPr lang="en-US" sz="850" dirty="0"/>
          </a:p>
        </p:txBody>
      </p:sp>
      <p:sp>
        <p:nvSpPr>
          <p:cNvPr id="71" name="Text 64"/>
          <p:cNvSpPr txBox="1"/>
          <p:nvPr/>
        </p:nvSpPr>
        <p:spPr>
          <a:xfrm>
            <a:off x="7827264" y="36027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81편</a:t>
            </a:r>
            <a:endParaRPr lang="en-US" sz="1100" dirty="0"/>
          </a:p>
        </p:txBody>
      </p:sp>
      <p:sp>
        <p:nvSpPr>
          <p:cNvPr id="72" name="Text 65"/>
          <p:cNvSpPr txBox="1"/>
          <p:nvPr/>
        </p:nvSpPr>
        <p:spPr>
          <a:xfrm>
            <a:off x="7296912" y="38953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개설</a:t>
            </a:r>
            <a:endParaRPr lang="en-US" sz="850" dirty="0"/>
          </a:p>
        </p:txBody>
      </p:sp>
      <p:sp>
        <p:nvSpPr>
          <p:cNvPr id="73" name="Text 66"/>
          <p:cNvSpPr txBox="1"/>
          <p:nvPr/>
        </p:nvSpPr>
        <p:spPr>
          <a:xfrm>
            <a:off x="7827264" y="389534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2024-01</a:t>
            </a:r>
            <a:endParaRPr lang="en-US" sz="850" dirty="0"/>
          </a:p>
        </p:txBody>
      </p:sp>
      <p:sp>
        <p:nvSpPr>
          <p:cNvPr id="74" name="Text 67"/>
          <p:cNvSpPr txBox="1"/>
          <p:nvPr/>
        </p:nvSpPr>
        <p:spPr>
          <a:xfrm>
            <a:off x="7296912" y="4187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운영사</a:t>
            </a:r>
            <a:endParaRPr lang="en-US" sz="850" dirty="0"/>
          </a:p>
        </p:txBody>
      </p:sp>
      <p:sp>
        <p:nvSpPr>
          <p:cNvPr id="75" name="Text 68"/>
          <p:cNvSpPr txBox="1"/>
          <p:nvPr/>
        </p:nvSpPr>
        <p:spPr>
          <a:xfrm>
            <a:off x="7827264" y="418795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(주)공간이엔지</a:t>
            </a:r>
            <a:endParaRPr lang="en-US" sz="850" dirty="0"/>
          </a:p>
        </p:txBody>
      </p:sp>
      <p:sp>
        <p:nvSpPr>
          <p:cNvPr id="76" name="Text 69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· EXECUTIVE SUMMARY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요약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 4사 평균 대비 공간이엔지의 위치와 가장 큰 격차 3가지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216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 평균 17.6만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1,105회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영상당 평균 조회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 평균 10.9만회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1.6분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롱폼 중간 길이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 평균 14.6분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132588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371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22 / 50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10대 항목 점수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194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 평균 43.0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43784"/>
            <a:ext cx="292608" cy="292608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2788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"사람"이 없다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278892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4개 경쟁 채널은 모두 대표·디자이너가 화면에 나와 설명한다. 공간이엔지는 인물 출연 0편, 재생목록·게시물 탭도 없어 구독할 이유가 만들어지지 않는다.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483864"/>
            <a:ext cx="292608" cy="292608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34290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롱폼이 없다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926080" y="342900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경쟁사는 10~22분 롱폼이 채널의 중심이고 쇼츠는 파생물이다. 공간이엔지는 72%가 3분 미만 현장 스케치라 검색 유입은 되지만 시청 시간·추천 노출이 쌓이지 않는다.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123944"/>
            <a:ext cx="292608" cy="292608"/>
          </a:xfrm>
          <a:prstGeom prst="ellipse">
            <a:avLst/>
          </a:prstGeom>
          <a:solidFill>
            <a:srgbClr val="1F4E5F"/>
          </a:solidFill>
          <a:ln w="12700">
            <a:solidFill>
              <a:srgbClr val="1F4E5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" y="4069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자재 홍보 톤이 강하다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926080" y="406908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제목 기준 제품·자재 콘텐츠가 41%(경쟁 평균 16%). 정보·노하우는 13%(경쟁 평균 29%). 블로그에서 잘 되는 비용·순서·실패 사례 주제를 영상으로 옮기면 바로 보완 가능.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· ITEM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채널 규모·도달력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구독자와 영상당 평균 조회수 — 인테리언니는 141편으로 무아공간(1,013편)과 같은 구독자를 확보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280160"/>
          <a:ext cx="4023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6E3D3"/>
          </a:solidFill>
          <a:ln w="12700">
            <a:solidFill>
              <a:srgbClr val="F6E3D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" y="4041648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공간이엔지에 필요한 것  </a:t>
            </a:r>
            <a:pPr indent="0" marL="0">
              <a:buNone/>
            </a:pPr>
            <a:r>
              <a:rPr lang="en-US" sz="9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 전환이 되는 "채널의 얼굴"과 시리즈 구조가 없다. 영상당 조회 1천회대에서 벗어나려면 롱폼 1편의 완성도부터 올려야 한다.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· ITEM 2-3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콘텐츠 포맷 · ③ 업로드 리듬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롱폼 길이와 연간 업로드 수 — 경쟁사는 "10분 이상 롱폼 + 쇼츠" 2트랙, 공간이엔지는 단편 1트랙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34440"/>
          <a:ext cx="402336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234440"/>
          <a:ext cx="402336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280160"/>
                <a:gridCol w="1280160"/>
                <a:gridCol w="12801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무아공간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인테리언니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홈파베르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디자인쉐어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공간이엔지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41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3분 미만 비중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45%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72%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10~20분 비중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57%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36%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54%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41%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최근 30일 / 90일 업로드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 / 13편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 / 9편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 / 16편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 / 11편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 / 4편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쇼츠 수 · 최고 조회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48편 · 19만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4편 · 241만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48편 · 35만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48편 · 12만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6편 · 1,700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재생목록 · 게시물 · 라이브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 · ○ · ×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 · ○ · ×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 · ○ · ○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 · ○ · ×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 · × · ×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· ITEM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콘텐츠 주제 믹스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제목 키워드 규칙으로 자동 분류한 표본 비중 (무아 180 · 인테리언니 137 · 홈파베르 180 · 디자인쉐어 169 · 공간이엔지 75편)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8016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32588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70448" y="1344168"/>
            <a:ext cx="2706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홈파베르  </a:t>
            </a:r>
            <a:pPr indent="0" marL="0">
              <a:buNone/>
            </a:pPr>
            <a:r>
              <a:rPr lang="en-US" sz="90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정보 39 · 시공 27 · 제품 21 · 후기 10 — 5개 축을 가장 고르게 운영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60720" y="1984248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70448" y="2002536"/>
            <a:ext cx="2706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인테리언니  </a:t>
            </a:r>
            <a:pPr indent="0" marL="0">
              <a:buNone/>
            </a:pPr>
            <a:r>
              <a:rPr lang="en-US" sz="90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정보 38 · 제품 28 · 인물 15 — 시공사례 9%뿐인 개인 브랜드형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642616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70448" y="2660904"/>
            <a:ext cx="2706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디자인쉐어  </a:t>
            </a:r>
            <a:pPr indent="0" marL="0">
              <a:buNone/>
            </a:pPr>
            <a:r>
              <a:rPr lang="en-US" sz="90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시공사례 75% 포트폴리오형 — 정보성 10%로 확장에 한계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3300984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6E3D3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70448" y="3319272"/>
            <a:ext cx="2706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 </a:t>
            </a:r>
            <a:pPr indent="0" marL="0">
              <a:buNone/>
            </a:pPr>
            <a:r>
              <a:rPr lang="en-US" sz="90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제품·자재 41%(경쟁 평균 16%) · 정보 13%(경쟁 29%) · 인물 1% — 대리점 홍보 톤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3977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필요한 것  </a:t>
            </a:r>
            <a:pPr indent="0" marL="0">
              <a:buNone/>
            </a:pPr>
            <a:r>
              <a:rPr lang="en-US" sz="90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제품 홍보 비중을 20% 이하로 낮추고 정보·노하우(비용·순서·실패 사례)를 35%까지 확대. 블로그에서 이미 검증된 주제를 영상화.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· ITEM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영상 기법·제작 방식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인기 영상·썸네일·길이·재생목록 구조를 바탕으로 정리한 제작 문법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600200"/>
                <a:gridCol w="1600200"/>
                <a:gridCol w="1600200"/>
                <a:gridCol w="146304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기법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무아공간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인테리언니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홈파베르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디자인쉐어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공간이엔지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4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출연자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대표 직접 출연·해설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대표 1인 토크(정면)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디자이너·대표 룸투어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거의 없음(공간 중심)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없음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촬영 방식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현장 워크스루 + 인터뷰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스튜디오 고정샷 + 제품 클로즈업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핸드헬드 룸투어 + 디테일 컷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짐벌 시네마틱 무빙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패닝·고정샷 현장 스케치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편집 구조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문제(가족 불편) → 구조 변경 → 결과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리스트형 챕터(5가지·16가지) + 반전 서사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비포·포인트·후회 리뷰 문법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음악 중심 무드 클립 + 리뷰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자막 나열, 서사 없음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자막·그래픽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키워드 자막, 도면 오버레이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대형 키워드 자막, 색상 강조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이모지·키워드 자막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최소 자막, 타이포 로고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흰색 기본 자막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길이 전략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15분 롱폼 + 쇼츠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20분 이상 롱폼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10분 리뷰 + 쇼츠 + 라이브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3분 클립 + 10분 리뷰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1~3분 단편만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썸네일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인물 + 공간 + 조회수 뱃지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인물 정면 + 소품 + 뱃지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공간 + 대형 숫자 + 2줄 카피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공간 사진 + 소형 카피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공간 + 흰 자막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시리즈화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평형별·솔루션별·고객인터뷰·인문학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남의 집 구경·병원 인테리어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홈파베르 리뷰·토크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스튜디오·건축 프로젝트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없음(재생목록 미운영)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필요한 것  </a:t>
            </a:r>
            <a:pPr indent="0" marL="0">
              <a:buNone/>
            </a:pPr>
            <a:r>
              <a:rPr lang="en-US" sz="90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출연자(대표 또는 실장) 고정 ② "문제→해결→비용" 3막 구조 ③ 챕터·자막 템플릿 ④ 현장별 비포/애프터 동일 앵글 촬영 규칙.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 · ITEM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⑥ 제목·썸네일 기법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채널 인기 1위 영상 썸네일과 제목 패턴 수치 (표본 제목 중 해당 패턴 비중)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pic>
        <p:nvPicPr>
          <p:cNvPr id="6" name="Image 0" descr="/tmp/claude-0/-home-user-chromux/d9720436-ad61-5a24-b236-08f2450efa2e/scratchpad/yt/img/muagonggan_thum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1234440"/>
            <a:ext cx="1371600" cy="10287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무아공간  </a:t>
            </a:r>
            <a:pPr indent="0" marL="0">
              <a:buNone/>
            </a:pPr>
            <a:r>
              <a:rPr lang="en-US" sz="7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144만회 · 17분</a:t>
            </a:r>
            <a:endParaRPr lang="en-US" sz="850" dirty="0"/>
          </a:p>
        </p:txBody>
      </p:sp>
      <p:pic>
        <p:nvPicPr>
          <p:cNvPr id="8" name="Image 1" descr="/tmp/claude-0/-home-user-chromux/d9720436-ad61-5a24-b236-08f2450efa2e/scratchpad/yt/img/intelliunnie_thumb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423160" y="1234440"/>
            <a:ext cx="1371600" cy="10287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423160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인테리언니  </a:t>
            </a:r>
            <a:pPr indent="0" marL="0">
              <a:buNone/>
            </a:pPr>
            <a:r>
              <a:rPr lang="en-US" sz="7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163만회 · 29분</a:t>
            </a:r>
            <a:endParaRPr lang="en-US" sz="850" dirty="0"/>
          </a:p>
        </p:txBody>
      </p:sp>
      <p:pic>
        <p:nvPicPr>
          <p:cNvPr id="10" name="Image 2" descr="/tmp/claude-0/-home-user-chromux/d9720436-ad61-5a24-b236-08f2450efa2e/scratchpad/yt/img/homefaber_design_thumb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86200" y="1234440"/>
            <a:ext cx="1371600" cy="10287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886200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홈파베르  </a:t>
            </a:r>
            <a:pPr indent="0" marL="0">
              <a:buNone/>
            </a:pPr>
            <a:r>
              <a:rPr lang="en-US" sz="7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321만회 · 20분</a:t>
            </a:r>
            <a:endParaRPr lang="en-US" sz="850" dirty="0"/>
          </a:p>
        </p:txBody>
      </p:sp>
      <p:pic>
        <p:nvPicPr>
          <p:cNvPr id="12" name="Image 3" descr="/tmp/claude-0/-home-user-chromux/d9720436-ad61-5a24-b236-08f2450efa2e/scratchpad/yt/img/Design_Share_thumb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49240" y="1234440"/>
            <a:ext cx="1371600" cy="10287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349240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디자인쉐어  </a:t>
            </a:r>
            <a:pPr indent="0" marL="0">
              <a:buNone/>
            </a:pPr>
            <a:r>
              <a:rPr lang="en-US" sz="7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51만회 · 28분</a:t>
            </a:r>
            <a:endParaRPr lang="en-US" sz="850" dirty="0"/>
          </a:p>
        </p:txBody>
      </p:sp>
      <p:pic>
        <p:nvPicPr>
          <p:cNvPr id="14" name="Image 4" descr="/tmp/claude-0/-home-user-chromux/d9720436-ad61-5a24-b236-08f2450efa2e/scratchpad/yt/img/gongganeng_thumb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12280" y="1234440"/>
            <a:ext cx="1371600" cy="10287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812280" y="2286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 </a:t>
            </a:r>
            <a:pPr indent="0" marL="0">
              <a:buNone/>
            </a:pPr>
            <a:r>
              <a:rPr lang="en-US" sz="7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8,500회 · 2분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280160"/>
                <a:gridCol w="1280160"/>
                <a:gridCol w="1280160"/>
              </a:tblGrid>
              <a:tr h="214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제목 패턴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무아공간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인테리언니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홈파베르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디자인쉐어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공간이엔지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41E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평균 길이(자)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34.7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47.1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66.8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39.2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42.3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숫자 · 평형 포함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49% · 29%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61% · 7%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78% · 64%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44% · 27%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59% · 51%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지역·단지명 포함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18%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43%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후킹어(후회·절대·이유·?!)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56%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66%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64%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28%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44%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이모지 · 브랜드 태그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14% · 3%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21% · 0%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82% · 77%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17% · 31%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0% · 9%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썸네일 인물 · 숫자 뱃지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 · ○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○ · ○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 · ○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 · ×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× · ×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</a:tbl>
          </a:graphicData>
        </a:graphic>
      </p:graphicFrame>
      <p:sp>
        <p:nvSpPr>
          <p:cNvPr id="17" name="Text 9"/>
          <p:cNvSpPr txBox="1"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필요한 것  </a:t>
            </a:r>
            <a:pPr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지역·평형 키워드는 유지하고 앞부분에 후킹 문구(비용·후회·비교)를 추가. 썸네일 템플릿 1종 고정: 공간 사진 + 인물 + 숫자(평·비용·조회) + 2줄 카피.</a:t>
            </a:r>
            <a:endParaRPr lang="en-US" sz="850" dirty="0"/>
          </a:p>
        </p:txBody>
      </p:sp>
      <p:sp>
        <p:nvSpPr>
          <p:cNvPr id="18" name="Text 10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 · ITEM 7-8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⑦ 브랜딩·페르소나 · ⑧ 리드 전환 시스템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말하는가, 그리고 시청자가 어디로 가는가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7. 브랜딩·페르소나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5727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무아공간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59105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오승욱 대표 = 채널 얼굴. "기능미학·나다운 공간" 철학, 책 출간·강연·웹진으로 사상 브랜드화.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08483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인테리언니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0312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백예진 대표 개인 브랜드(인테리언니)가 회사(더 코나)보다 앞섬. "16년차 디자이너의 솔직한 시선".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59689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홈파베르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615184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디자이너 그룹 이미지. "강남·서초·송파 아파트 전문" 지역 포지셔닝과 리뷰 문법으로 친근함.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1089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디자인쉐어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12724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"하이엔드 주거·단독주택 건축" 프리미엄 스튜디오 포지셔닝. 인물보다 결과물 중심.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621024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6E3D3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62102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639312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"LX하우시스 공식대리점·친환경 자재" 기능적 정체성. 대표·디자이너 노출 없음, 슬로건은 있으나 사람이 없음.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필요한 것  </a:t>
            </a:r>
            <a:pPr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"강남·송파 실거주 리모델링 + LX지인 정품·친환경" 포지셔닝을 사람(대표/실장)이 말하게 하기. 채널명·배너·소개글 통일.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8. 리드 전환 시스템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1572768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15727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무아공간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532120" y="159105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홈페이지 상담신청 폼(온라인 최초 문의 only) → 예약제. 링크 5개(홈·인터뷰·상담·인스타·블로그).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2084832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54880" y="208483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인테리언니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2103120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코나 홈페이지 RESERVATION 폼 only, 부분·소액 공사 사전 거절. 섭외 메일 별도. 링크 6개.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63440" y="2596896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259689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홈파베르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532120" y="2615184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Tally 견적 폼 1개로 단순화. 오늘의집 시공업체 등록, 설명란에 사무실 2곳 주소.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63440" y="3108960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54880" y="31089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디자인쉐어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3127248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홈페이지·이메일 only, "상담 3개월 전 예약" 문구로 희소성 연출. 링크 3개.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63440" y="3621024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F6E3D3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54880" y="362102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532120" y="3639312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전화 1551-1102 + 네이버 폼 + 스마트스토어. 전화 중심이라 유튜브→상담 전환 데이터가 남지 않음.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466344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필요한 것  </a:t>
            </a:r>
            <a:pPr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유튜브 전용 상담 폼(Tally/네이버 폼) URL을 만들어 유입 경로 추적. 영상 고정 댓글·설명란·종료 화면에 동일 CTA 배치.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 · ITEM 9-10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⑨ 회사 구성 · ⑩ 운영 방식·멀티채널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공개 정보(홈페이지·인터뷰·채용 사이트·채널 소개)로 확인된 사실만 기재. "비공개"는 확인 불가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600200"/>
                <a:gridCol w="1463040"/>
                <a:gridCol w="1463040"/>
                <a:gridCol w="1463040"/>
                <a:gridCol w="13716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항목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무아공간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인테리언니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홈파베르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디자인쉐어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공간이엔지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4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대표 · 설립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오승욱 · 문래 → 청담 사옥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백예진 · 2010년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윤상현 · 2017년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손정우 · 2019년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미공개(채널 기준)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조직 규모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29명(디자인 13·기술 12·경영 3·사업부 1)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비공개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약 20명 · 연 70건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비공개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비공개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면허·인증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실내건축공사업 · 기술자격 16명 · 벤처·이노비즈·연구소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건축·의료공간 실적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오늘의집 시공업체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실내건축·종합건설업 · 벤처·이노비즈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LX지인 공식대리점 · 친환경 자재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주력 상품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아파트 전면 리모델링(20~60평대)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주거 + 병원·상업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강남·서초·송파 아파트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하이엔드 주거 · 단독주택 건축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아파트 리모델링(LX) · 창호·바닥재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상담 방식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온라인 신청 → 예약제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홈페이지 예약 only · 소액 거절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Tally 견적 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홈페이지·이메일 · 3개월 전 예약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전화 + 네이버 폼 + 스마트스토어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프로세스·AS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5주 설계 · 매뉴얼 시공 · 1년 케어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비공개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노션 CRM · 공사 매뉴얼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예약 리드타임 등 원칙 공개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미공개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콘텐츠 조직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마케팅팀 + 대표 출연 · 웹진·책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대표 1인 브랜드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디자이너 출연 · 주 1~2편 · 라이브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스튜디오 영상팀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블로그 주 3회 · 유튜브 비정기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554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필요한 것  </a:t>
            </a:r>
            <a:pPr indent="0" marL="0">
              <a:buNone/>
            </a:pPr>
            <a:r>
              <a:rPr lang="en-US" sz="8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콘텐츠 담당 1명(기획·촬영·편집 겸임) 지정 + 외주 편집 월 4편. 보유 면허·인증·시공팀 구성을 채널 소개와 영상 도입부에 명시. 블로그 편성표에 유튜브를 붙여 "1소재 → 블로그 1 + 롱폼 1 + 쇼츠 3"로 운영. 상담·설계 기간·하자보증·AS 기한을 수치로 공개.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 · SCORECARD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10대 항목 종합 점수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= 없거나 작동하지 않음 · 3 = 업계 평균 · 5 = 카테고리 최상. 정성 평가이며 스프레드시트 "점수표"에서 수정 가능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493776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554480"/>
                <a:gridCol w="621792"/>
                <a:gridCol w="621792"/>
                <a:gridCol w="621792"/>
                <a:gridCol w="621792"/>
                <a:gridCol w="621792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#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항목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무아공간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인테리언니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홈파베르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디자인쉐어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공간이엔지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41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채널 규모·도달력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AD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84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콘텐츠 포맷·영상 길이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08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업로드 리듬·지속성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ADB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콘텐츠 주제 믹스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AD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08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영상 기법·제작 방식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08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제목·썸네일 기법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AD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08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브랜딩·페르소나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AD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08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리드 전환 시스템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ADB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회사 구성·조직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B08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운영 방식·멀티채널 생태계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F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ADB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ADB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합계 (50점)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47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45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36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B554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22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5486400" y="1188720"/>
          <a:ext cx="3291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 · GAP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갭 분석과 필요한 것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갭 = 경쟁 4사 평균 점수 − 공간이엔지 점수. 큰 순서대로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34440"/>
          <a:ext cx="35661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206240" y="1234440"/>
            <a:ext cx="4480560" cy="530352"/>
          </a:xfrm>
          <a:prstGeom prst="roundRect">
            <a:avLst>
              <a:gd name="adj" fmla="val 8621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15968" y="126187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 채널 규모·도달력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315968" y="14356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구독 전환이 되는 "채널의 얼굴"과 시리즈 구조가 없다. 영상당 조회 1천회대에서 벗어나려면 롱폼 1편의 완성도부터 올려야 한다.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206240" y="1819656"/>
            <a:ext cx="4480560" cy="530352"/>
          </a:xfrm>
          <a:prstGeom prst="roundRect">
            <a:avLst>
              <a:gd name="adj" fmla="val 8621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15968" y="18470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 콘텐츠 포맷·영상 길이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315968" y="202082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10~15분 롱폼 트랙 신설(월 2편), 쇼츠는 롱폼에서 잘라내는 방식으로 주 2편, 재생목록(평형별·단지별·자재별) 개설.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206240" y="2404872"/>
            <a:ext cx="4480560" cy="530352"/>
          </a:xfrm>
          <a:prstGeom prst="roundRect">
            <a:avLst>
              <a:gd name="adj" fmla="val 8621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15968" y="2432304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5. 영상 기법·제작 방식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315968" y="2606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출연자(대표 또는 실장) 고정 ② "문제→해결→비용" 3막 구조 ③ 챕터·자막 템플릿 ④ 현장별 비포/애프터 동일 앵글 촬영 규칙.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206240" y="2990088"/>
            <a:ext cx="4480560" cy="530352"/>
          </a:xfrm>
          <a:prstGeom prst="roundRect">
            <a:avLst>
              <a:gd name="adj" fmla="val 8621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15968" y="301752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4. 콘텐츠 주제 믹스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315968" y="31912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제품 홍보 비중을 20% 이하로 낮추고 정보·노하우(비용·순서·실패 사례)를 35%까지 확대. 블로그에서 이미 검증된 주제를 영상화.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206240" y="3575304"/>
            <a:ext cx="4480560" cy="530352"/>
          </a:xfrm>
          <a:prstGeom prst="roundRect">
            <a:avLst>
              <a:gd name="adj" fmla="val 8621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15968" y="3602736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6. 제목·썸네일 기법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315968" y="3776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지역·평형 키워드는 유지하고 앞부분에 후킹 문구(비용·후회·비교)를 추가. 썸네일 템플릿 1종 고정: 공간 사진 + 인물 + 숫자(평·비용·조회) + 2줄 카피.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206240" y="4160520"/>
            <a:ext cx="4480560" cy="530352"/>
          </a:xfrm>
          <a:prstGeom prst="roundRect">
            <a:avLst>
              <a:gd name="adj" fmla="val 8621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315968" y="418795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7. 브랜딩·페르소나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4315968" y="43616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"강남·송파 실거주 리모델링 + LX지인 정품·친환경" 포지셔닝을 사람(대표/실장)이 말하게 하기. 채널명·배너·소개글 통일.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 · ACTION PLAN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90일 실행 과제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우선순위 순. 담당·상태는 스프레드시트 "실행 과제" 시트에서 관리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61872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657600"/>
                <a:gridCol w="822960"/>
                <a:gridCol w="822960"/>
                <a:gridCol w="24688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순위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과제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근거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기간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90일 목표 KPI</a:t>
                      </a:r>
                      <a:endParaRPr lang="en-US" sz="9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54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출연자 지정 + 롱폼 트랙 신설(10~15분, 월 2편)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777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#2 #5 #7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즉시~4주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롱폼 8편, 편당 조회 3,000회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54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썸네일·제목 템플릿 고정(공간+인물+숫자+2줄 카피)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777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#6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클릭률 5% 이상(스튜디오 기준)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54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블로그 편성표에 유튜브 결합: 1소재 → 블로그1·롱폼1·쇼츠3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777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#3 #10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주 2회 고정 업로드 12주 연속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54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주제 믹스 조정: 제품 41%→20%, 정보·노하우 13%→35%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777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#4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12주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정보형 영상 6편, 시공사례 6편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54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유튜브 전용 상담 폼 + 고정 댓글·종료화면 CTA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777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#8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유튜브 경유 상담 월 5건 추적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54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6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재생목록 4종(평형별·단지별·자재별·비용) + 게시물 탭 활성화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777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#2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재생목록 경유 시청 10%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54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7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채널 소개·배너에 면허·시공팀·AS 기준 수치 명시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777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#9 #10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2주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소개 페이지 완성 1회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554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고객 인터뷰 시리즈(준공 후 3개월) 분기 1편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7775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#4 #7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분기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2A2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인터뷰 1편, 평균 시청 지속 40%</a:t>
                      </a:r>
                      <a:endParaRPr lang="en-US" sz="8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DCE8EA"/>
          </a:solidFill>
          <a:ln w="12700">
            <a:solidFill>
              <a:srgbClr val="DCE8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4334256"/>
            <a:ext cx="7955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원칙  </a:t>
            </a:r>
            <a:pPr indent="0" marL="0">
              <a:buNone/>
            </a:pPr>
            <a:r>
              <a:rPr lang="en-US" sz="90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현장 1건 = 블로그 1편 + 롱폼 1편 + 쇼츠 3편. 블로그 월·수·금 편성에 유튜브 화·금을 붙여 소재와 일정을 한 표로 관리한다.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 · SOURCES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출처 및 산출 기준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공간이엔지 경쟁채널 비교분석 · 2026-09-17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유튜브 채널 페이지(정보·동영상·Shorts 탭) 2026-09-17 수집. 구독자·누적 조회수·영상 수는 채널 정보 기준.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영상 단위 지표(길이·조회·업로드 시점·제목)는 최신순 목록 최대 180편 표본 기준. 공간이엔지는 전체 75편.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주제 분류는 제목 키워드 규칙 기반 자동 분류(한글 NFC 정규화 후 적용, 수기 검수 전). "기타"는 규칙에 걸리지 않은 제목.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회사 정보: 무아공간 홈페이지(회사소개·팀원·프로세스), 핸드메이커 홈파베르 윤상현 대표 인터뷰(2024), 잡코리아 디자인쉐어 기업정보, 더 코나 홈페이지 검색 요약, 공간이엔지 채널 소개·네이버 블로그 RSS.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코나·홈파베르·디자인쉐어 홈페이지는 해외 접속 차단(403)으로 직접 열람 불가. 검색 요약과 채널 설명란으로 대체.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A2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점수(1~5)는 위 수치와 공개 정보를 바탕으로 한 정성 평가. 스프레드시트 "점수표"에서 수정하면 합계·갭·우선순위가 자동 재계산됨.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채널: 무아공간 youtube.com/@muagonggan  ·  인테리언니 youtube.com/@intelliunnie  ·  홈파베르 youtube.com/@homefaber_design  ·  디자인쉐어 youtube.com/@Design_Share  ·  공간이엔지 youtube.com/@gongganeng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E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함께 제공: 공간이엔지_경쟁채널_비교분석_데이터.xlsx (Numbers에서 열기 → 파란 셀 수정 시 합계·갭·우선순위 자동 재계산)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77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공간이엔지 경쟁채널 비교분석</dc:title>
  <dc:subject>PptxGenJS Presentation</dc:subject>
  <dc:creator>PptxGenJS</dc:creator>
  <cp:lastModifiedBy>PptxGenJS</cp:lastModifiedBy>
  <cp:revision>1</cp:revision>
  <dcterms:created xsi:type="dcterms:W3CDTF">2026-09-17T05:38:19Z</dcterms:created>
  <dcterms:modified xsi:type="dcterms:W3CDTF">2026-09-17T05:38:19Z</dcterms:modified>
</cp:coreProperties>
</file>